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88952" cy="585216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query"/>
          <p:cNvSpPr/>
          <p:nvPr/>
        </p:nvSpPr>
        <p:spPr>
          <a:xfrm>
            <a:off x="320040" y="566928"/>
            <a:ext cx="2103120" cy="868680"/>
          </a:xfrm>
          <a:prstGeom prst="roundRect">
            <a:avLst/>
          </a:prstGeom>
          <a:solidFill>
            <a:srgbClr val="F2F4F8"/>
          </a:solidFill>
          <a:ln w="15875">
            <a:solidFill>
              <a:srgbClr val="8A94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74904" y="612648"/>
            <a:ext cx="1993391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6B7480"/>
                </a:solidFill>
              </a:rPr>
              <a:t>query</a:t>
            </a:r>
          </a:p>
          <a:p>
            <a:pPr algn="ctr"/>
            <a:r>
              <a:rPr sz="950" b="0">
                <a:solidFill>
                  <a:srgbClr val="6B7480"/>
                </a:solidFill>
              </a:rPr>
              <a:t>(image, question)</a:t>
            </a:r>
          </a:p>
          <a:p>
            <a:pPr algn="ctr"/>
            <a:r>
              <a:rPr sz="950" b="0">
                <a:solidFill>
                  <a:srgbClr val="6B7480"/>
                </a:solidFill>
              </a:rPr>
              <a:t>batch 4</a:t>
            </a:r>
          </a:p>
        </p:txBody>
      </p:sp>
      <p:sp>
        <p:nvSpPr>
          <p:cNvPr id="4" name="index"/>
          <p:cNvSpPr/>
          <p:nvPr/>
        </p:nvSpPr>
        <p:spPr>
          <a:xfrm>
            <a:off x="320040" y="1874519"/>
            <a:ext cx="2103120" cy="1691640"/>
          </a:xfrm>
          <a:prstGeom prst="roundRect">
            <a:avLst/>
          </a:prstGeom>
          <a:solidFill>
            <a:srgbClr val="F2F4F8"/>
          </a:solidFill>
          <a:ln w="15875">
            <a:solidFill>
              <a:srgbClr val="8A94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74904" y="1920239"/>
            <a:ext cx="1993391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6B7480"/>
                </a:solidFill>
              </a:rPr>
              <a:t>live index</a:t>
            </a:r>
          </a:p>
          <a:p>
            <a:pPr algn="ctr"/>
            <a:r>
              <a:rPr sz="950" b="0">
                <a:solidFill>
                  <a:srgbClr val="6B7480"/>
                </a:solidFill>
              </a:rPr>
              <a:t>RL corpus ≈174K passages</a:t>
            </a:r>
          </a:p>
          <a:p>
            <a:pPr algn="ctr"/>
            <a:r>
              <a:rPr sz="950" b="0">
                <a:solidFill>
                  <a:srgbClr val="6B7480"/>
                </a:solidFill>
              </a:rPr>
              <a:t>gold-entity articles</a:t>
            </a:r>
          </a:p>
          <a:p>
            <a:pPr algn="ctr"/>
            <a:r>
              <a:rPr sz="950" b="0">
                <a:solidFill>
                  <a:srgbClr val="6B7480"/>
                </a:solidFill>
              </a:rPr>
              <a:t>+ 3,000 distractors</a:t>
            </a:r>
          </a:p>
          <a:p>
            <a:pPr algn="ctr"/>
            <a:r>
              <a:rPr sz="950" b="0">
                <a:solidFill>
                  <a:srgbClr val="6B7480"/>
                </a:solidFill>
              </a:rPr>
              <a:t/>
            </a:r>
          </a:p>
          <a:p>
            <a:pPr algn="ctr"/>
            <a:r>
              <a:rPr sz="950" b="0">
                <a:solidFill>
                  <a:srgbClr val="6B7480"/>
                </a:solidFill>
              </a:rPr>
              <a:t>top-M = 24 support</a:t>
            </a:r>
          </a:p>
        </p:txBody>
      </p:sp>
      <p:sp>
        <p:nvSpPr>
          <p:cNvPr id="6" name="polhead"/>
          <p:cNvSpPr/>
          <p:nvPr/>
        </p:nvSpPr>
        <p:spPr>
          <a:xfrm>
            <a:off x="2697480" y="566928"/>
            <a:ext cx="2926080" cy="475488"/>
          </a:xfrm>
          <a:prstGeom prst="roundRect">
            <a:avLst/>
          </a:prstGeom>
          <a:solidFill>
            <a:srgbClr val="5B92C4"/>
          </a:solidFill>
          <a:ln w="15875">
            <a:solidFill>
              <a:srgbClr val="2F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Policy  πθ   (gme2b)</a:t>
            </a:r>
          </a:p>
        </p:txBody>
      </p:sp>
      <p:sp>
        <p:nvSpPr>
          <p:cNvPr id="7" name="polbody"/>
          <p:cNvSpPr/>
          <p:nvPr/>
        </p:nvSpPr>
        <p:spPr>
          <a:xfrm>
            <a:off x="2697480" y="1042415"/>
            <a:ext cx="2926080" cy="2523744"/>
          </a:xfrm>
          <a:prstGeom prst="roundRect">
            <a:avLst/>
          </a:prstGeom>
          <a:solidFill>
            <a:srgbClr val="E2EDF6"/>
          </a:solidFill>
          <a:ln w="15875">
            <a:solidFill>
              <a:srgbClr val="5B9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2752344" y="1088136"/>
            <a:ext cx="2816352" cy="243230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>
                <a:solidFill>
                  <a:srgbClr val="222222"/>
                </a:solidFill>
              </a:rPr>
              <a:t>gme-Qwen2-VL-2B</a:t>
            </a:r>
          </a:p>
          <a:p>
            <a:pPr algn="ctr"/>
            <a:r>
              <a:rPr sz="950" b="0">
                <a:solidFill>
                  <a:srgbClr val="222222"/>
                </a:solidFill>
              </a:rPr>
              <a:t>backbone weights FROZEN</a:t>
            </a:r>
          </a:p>
          <a:p>
            <a:pPr algn="ctr"/>
            <a:r>
              <a:rPr sz="950" b="0">
                <a:solidFill>
                  <a:srgbClr val="222222"/>
                </a:solidFill>
              </a:rPr>
              <a:t>(grads pass through it)</a:t>
            </a:r>
          </a:p>
          <a:p>
            <a:pPr algn="ctr"/>
            <a:r>
              <a:rPr sz="950" b="0">
                <a:solidFill>
                  <a:srgbClr val="222222"/>
                </a:solidFill>
              </a:rPr>
              <a:t/>
            </a:r>
          </a:p>
          <a:p>
            <a:pPr algn="ctr"/>
            <a:r>
              <a:rPr sz="950" b="0">
                <a:solidFill>
                  <a:srgbClr val="222222"/>
                </a:solidFill>
              </a:rPr>
              <a:t>+ LoRA  r=32, α=64</a:t>
            </a:r>
          </a:p>
          <a:p>
            <a:pPr algn="ctr"/>
            <a:r>
              <a:rPr sz="950" b="0">
                <a:solidFill>
                  <a:srgbClr val="222222"/>
                </a:solidFill>
              </a:rPr>
              <a:t>the only weights updated</a:t>
            </a:r>
          </a:p>
          <a:p>
            <a:pPr algn="ctr"/>
            <a:r>
              <a:rPr sz="950" b="0">
                <a:solidFill>
                  <a:srgbClr val="222222"/>
                </a:solidFill>
              </a:rPr>
              <a:t/>
            </a:r>
          </a:p>
          <a:p>
            <a:pPr algn="ctr"/>
            <a:r>
              <a:rPr sz="950" b="0">
                <a:solidFill>
                  <a:srgbClr val="222222"/>
                </a:solidFill>
              </a:rPr>
              <a:t>s_d = ⟨e(q), e(d)⟩ / τ</a:t>
            </a:r>
          </a:p>
          <a:p>
            <a:pPr algn="ctr"/>
            <a:r>
              <a:rPr sz="950" b="0">
                <a:solidFill>
                  <a:srgbClr val="222222"/>
                </a:solidFill>
              </a:rPr>
              <a:t>τ = 0.02</a:t>
            </a:r>
          </a:p>
        </p:txBody>
      </p:sp>
      <p:sp>
        <p:nvSpPr>
          <p:cNvPr id="9" name="samphead"/>
          <p:cNvSpPr/>
          <p:nvPr/>
        </p:nvSpPr>
        <p:spPr>
          <a:xfrm>
            <a:off x="5897880" y="566928"/>
            <a:ext cx="2971800" cy="475488"/>
          </a:xfrm>
          <a:prstGeom prst="roundRect">
            <a:avLst/>
          </a:prstGeom>
          <a:solidFill>
            <a:srgbClr val="5B92C4"/>
          </a:solidFill>
          <a:ln w="15875">
            <a:solidFill>
              <a:srgbClr val="2F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Plackett–Luce sampling</a:t>
            </a:r>
          </a:p>
        </p:txBody>
      </p:sp>
      <p:sp>
        <p:nvSpPr>
          <p:cNvPr id="10" name="sampbody"/>
          <p:cNvSpPr/>
          <p:nvPr/>
        </p:nvSpPr>
        <p:spPr>
          <a:xfrm>
            <a:off x="5897880" y="1042415"/>
            <a:ext cx="2971800" cy="2523744"/>
          </a:xfrm>
          <a:prstGeom prst="roundRect">
            <a:avLst/>
          </a:prstGeom>
          <a:solidFill>
            <a:srgbClr val="E2EDF6"/>
          </a:solidFill>
          <a:ln w="15875">
            <a:solidFill>
              <a:srgbClr val="5B9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952744" y="1088136"/>
            <a:ext cx="2862072" cy="243230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>
                <a:solidFill>
                  <a:srgbClr val="222222"/>
                </a:solidFill>
              </a:rPr>
              <a:t>G = 4 ordered lists of k = 4</a:t>
            </a:r>
          </a:p>
          <a:p>
            <a:pPr algn="ctr"/>
            <a:r>
              <a:rPr sz="950" b="0">
                <a:solidFill>
                  <a:srgbClr val="222222"/>
                </a:solidFill>
              </a:rPr>
              <a:t/>
            </a:r>
          </a:p>
          <a:p>
            <a:pPr algn="ctr"/>
            <a:r>
              <a:rPr sz="950" b="0">
                <a:solidFill>
                  <a:srgbClr val="222222"/>
                </a:solidFill>
              </a:rPr>
              <a:t>Gumbel-top-k  =  exact PL</a:t>
            </a:r>
          </a:p>
          <a:p>
            <a:pPr algn="ctr"/>
            <a:r>
              <a:rPr sz="950" b="0">
                <a:solidFill>
                  <a:srgbClr val="222222"/>
                </a:solidFill>
              </a:rPr>
              <a:t>sampling without replacement</a:t>
            </a:r>
          </a:p>
          <a:p>
            <a:pPr algn="ctr"/>
            <a:r>
              <a:rPr sz="950" b="0">
                <a:solidFill>
                  <a:srgbClr val="222222"/>
                </a:solidFill>
              </a:rPr>
              <a:t/>
            </a:r>
          </a:p>
          <a:p>
            <a:pPr algn="ctr"/>
            <a:r>
              <a:rPr sz="950" b="0">
                <a:solidFill>
                  <a:srgbClr val="222222"/>
                </a:solidFill>
              </a:rPr>
              <a:t>log π = Σᵢ [ s_dᵢ − log Σ_{Rᵢ} exp s_d ]</a:t>
            </a:r>
          </a:p>
          <a:p>
            <a:pPr algn="ctr"/>
            <a:r>
              <a:rPr sz="950" b="0">
                <a:solidFill>
                  <a:srgbClr val="222222"/>
                </a:solidFill>
              </a:rPr>
              <a:t>denominator shrinks per position</a:t>
            </a:r>
          </a:p>
        </p:txBody>
      </p:sp>
      <p:sp>
        <p:nvSpPr>
          <p:cNvPr id="12" name="rewhead"/>
          <p:cNvSpPr/>
          <p:nvPr/>
        </p:nvSpPr>
        <p:spPr>
          <a:xfrm>
            <a:off x="9052560" y="566928"/>
            <a:ext cx="2834640" cy="475488"/>
          </a:xfrm>
          <a:prstGeom prst="roundRect">
            <a:avLst/>
          </a:prstGeom>
          <a:solidFill>
            <a:srgbClr val="D2884A"/>
          </a:solidFill>
          <a:ln w="15875">
            <a:solidFill>
              <a:srgbClr val="8C53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Reward (only supervision)</a:t>
            </a:r>
          </a:p>
        </p:txBody>
      </p:sp>
      <p:sp>
        <p:nvSpPr>
          <p:cNvPr id="13" name="rewbody"/>
          <p:cNvSpPr/>
          <p:nvPr/>
        </p:nvSpPr>
        <p:spPr>
          <a:xfrm>
            <a:off x="9052560" y="1042415"/>
            <a:ext cx="2834640" cy="2523744"/>
          </a:xfrm>
          <a:prstGeom prst="roundRect">
            <a:avLst/>
          </a:prstGeom>
          <a:solidFill>
            <a:srgbClr val="F9EBDD"/>
          </a:solidFill>
          <a:ln w="15875">
            <a:solidFill>
              <a:srgbClr val="D28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107424" y="1088136"/>
            <a:ext cx="2724912" cy="243230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>
                <a:solidFill>
                  <a:srgbClr val="222222"/>
                </a:solidFill>
              </a:rPr>
              <a:t>Qwen2.5-VL-3B</a:t>
            </a:r>
          </a:p>
          <a:p>
            <a:pPr algn="ctr"/>
            <a:r>
              <a:rPr sz="950" b="0">
                <a:solidFill>
                  <a:srgbClr val="222222"/>
                </a:solidFill>
              </a:rPr>
              <a:t>FROZEN — inference only,</a:t>
            </a:r>
          </a:p>
          <a:p>
            <a:pPr algn="ctr"/>
            <a:r>
              <a:rPr sz="950" b="0">
                <a:solidFill>
                  <a:srgbClr val="222222"/>
                </a:solidFill>
              </a:rPr>
              <a:t>no gradients at all</a:t>
            </a:r>
          </a:p>
          <a:p>
            <a:pPr algn="ctr"/>
            <a:r>
              <a:rPr sz="950" b="0">
                <a:solidFill>
                  <a:srgbClr val="222222"/>
                </a:solidFill>
              </a:rPr>
              <a:t/>
            </a:r>
          </a:p>
          <a:p>
            <a:pPr algn="ctr"/>
            <a:r>
              <a:rPr sz="950" b="0">
                <a:solidFill>
                  <a:srgbClr val="222222"/>
                </a:solidFill>
              </a:rPr>
              <a:t>scores each UNIQUE of</a:t>
            </a:r>
          </a:p>
          <a:p>
            <a:pPr algn="ctr"/>
            <a:r>
              <a:rPr sz="950" b="0">
                <a:solidFill>
                  <a:srgbClr val="222222"/>
                </a:solidFill>
              </a:rPr>
              <a:t>the G×k = 16 sampled</a:t>
            </a:r>
          </a:p>
          <a:p>
            <a:pPr algn="ctr"/>
            <a:r>
              <a:rPr sz="950" b="0">
                <a:solidFill>
                  <a:srgbClr val="222222"/>
                </a:solidFill>
              </a:rPr>
              <a:t/>
            </a:r>
          </a:p>
          <a:p>
            <a:pPr algn="ctr"/>
            <a:r>
              <a:rPr sz="950" b="0">
                <a:solidFill>
                  <a:srgbClr val="222222"/>
                </a:solidFill>
              </a:rPr>
              <a:t>4 sampled answers @ T=0.7</a:t>
            </a:r>
          </a:p>
          <a:p>
            <a:pPr algn="ctr"/>
            <a:r>
              <a:rPr sz="950" b="0">
                <a:solidFill>
                  <a:srgbClr val="222222"/>
                </a:solidFill>
              </a:rPr>
              <a:t>reward = fraction correct</a:t>
            </a:r>
          </a:p>
          <a:p>
            <a:pPr algn="ctr"/>
            <a:r>
              <a:rPr sz="950" b="0">
                <a:solidFill>
                  <a:srgbClr val="222222"/>
                </a:solidFill>
              </a:rPr>
              <a:t>token-boundary cover-EM</a:t>
            </a:r>
          </a:p>
          <a:p>
            <a:pPr algn="ctr"/>
            <a:r>
              <a:rPr sz="950" b="0">
                <a:solidFill>
                  <a:srgbClr val="222222"/>
                </a:solidFill>
              </a:rPr>
              <a:t>vs gold ANSWER aliases</a:t>
            </a:r>
          </a:p>
        </p:txBody>
      </p:sp>
      <p:sp>
        <p:nvSpPr>
          <p:cNvPr id="15" name="credit"/>
          <p:cNvSpPr/>
          <p:nvPr/>
        </p:nvSpPr>
        <p:spPr>
          <a:xfrm>
            <a:off x="2697480" y="3913632"/>
            <a:ext cx="9189720" cy="1024128"/>
          </a:xfrm>
          <a:prstGeom prst="roundRect">
            <a:avLst/>
          </a:prstGeom>
          <a:solidFill>
            <a:srgbClr val="F2F4F8"/>
          </a:solidFill>
          <a:ln w="15875">
            <a:solidFill>
              <a:srgbClr val="8A94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2752344" y="3959352"/>
            <a:ext cx="9079992" cy="9326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6B7480"/>
                </a:solidFill>
              </a:rPr>
              <a:t>credit assignment</a:t>
            </a:r>
          </a:p>
          <a:p>
            <a:pPr algn="ctr"/>
            <a:r>
              <a:rPr sz="950" b="0">
                <a:solidFill>
                  <a:srgbClr val="6B7480"/>
                </a:solidFill>
              </a:rPr>
              <a:t>list reward = mean of its k=4 per-passage rewards      advantage = z-score across the G=4 lists of one query  (group_z)</a:t>
            </a:r>
          </a:p>
          <a:p>
            <a:pPr algn="ctr"/>
            <a:r>
              <a:rPr sz="950" b="0">
                <a:solidFill>
                  <a:srgbClr val="6B7480"/>
                </a:solidFill>
              </a:rPr>
              <a:t>gradient = advantage × exact PL log-prob      clip inert: inner_epochs=1 ⇒ ratio ≡ 1</a:t>
            </a:r>
          </a:p>
        </p:txBody>
      </p:sp>
      <p:sp>
        <p:nvSpPr>
          <p:cNvPr id="17" name="nogold"/>
          <p:cNvSpPr/>
          <p:nvPr/>
        </p:nvSpPr>
        <p:spPr>
          <a:xfrm>
            <a:off x="320040" y="3913632"/>
            <a:ext cx="2103120" cy="102412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28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8" name="Connector 17"/>
          <p:cNvCxnSpPr/>
          <p:nvPr/>
        </p:nvCxnSpPr>
        <p:spPr>
          <a:xfrm>
            <a:off x="2423160" y="1005840"/>
            <a:ext cx="274320" cy="457200"/>
          </a:xfrm>
          <a:prstGeom prst="bentConnector3">
            <a:avLst/>
          </a:prstGeom>
          <a:ln w="19050">
            <a:solidFill>
              <a:srgbClr val="8A94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2423160" y="2194560"/>
            <a:ext cx="274320" cy="274320"/>
          </a:xfrm>
          <a:prstGeom prst="bentConnector3">
            <a:avLst/>
          </a:prstGeom>
          <a:ln w="19050">
            <a:solidFill>
              <a:srgbClr val="8A94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623560" y="2103120"/>
            <a:ext cx="274320" cy="0"/>
          </a:xfrm>
          <a:prstGeom prst="bentConnector3">
            <a:avLst/>
          </a:prstGeom>
          <a:ln w="19050">
            <a:solidFill>
              <a:srgbClr val="5B92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869680" y="2304288"/>
            <a:ext cx="182880" cy="0"/>
          </a:xfrm>
          <a:prstGeom prst="bentConnector3">
            <a:avLst/>
          </a:prstGeom>
          <a:ln w="19050">
            <a:solidFill>
              <a:srgbClr val="D288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0469880" y="3566160"/>
            <a:ext cx="0" cy="347472"/>
          </a:xfrm>
          <a:prstGeom prst="bentConnector3">
            <a:avLst/>
          </a:prstGeom>
          <a:ln w="19050">
            <a:solidFill>
              <a:srgbClr val="D288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4160520" y="3566160"/>
            <a:ext cx="0" cy="347472"/>
          </a:xfrm>
          <a:prstGeom prst="bentConnector3">
            <a:avLst/>
          </a:prstGeom>
          <a:ln w="19050">
            <a:solidFill>
              <a:srgbClr val="5B92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960120" y="566928"/>
            <a:ext cx="2148840" cy="1307591"/>
          </a:xfrm>
          <a:prstGeom prst="bentConnector3">
            <a:avLst/>
          </a:prstGeom>
          <a:ln w="19050">
            <a:solidFill>
              <a:srgbClr val="8A94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34340" y="4114800"/>
            <a:ext cx="21031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50" b="0">
                <a:solidFill>
                  <a:srgbClr val="D2884A"/>
                </a:solidFill>
              </a:rPr>
              <a:t>gold evidence passage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16635" y="4315968"/>
            <a:ext cx="1938529" cy="0"/>
          </a:xfrm>
          <a:prstGeom prst="line">
            <a:avLst/>
          </a:prstGeom>
          <a:ln w="22225">
            <a:solidFill>
              <a:srgbClr val="D288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34340" y="4480560"/>
            <a:ext cx="21031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700" b="0">
                <a:solidFill>
                  <a:srgbClr val="8C5320"/>
                </a:solidFill>
              </a:rPr>
              <a:t>never inserted, never a target:</a:t>
            </a:r>
          </a:p>
          <a:p>
            <a:pPr algn="ctr"/>
            <a:r>
              <a:rPr sz="700" b="0">
                <a:solidFill>
                  <a:srgbClr val="8C5320"/>
                </a:solidFill>
              </a:rPr>
              <a:t>no relevance label anywhere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34640" y="73151"/>
            <a:ext cx="5120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760" b="0">
                <a:solidFill>
                  <a:srgbClr val="6B7480"/>
                </a:solidFill>
              </a:rPr>
              <a:t>re-encode the index with the current policy every 100 steps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3538727"/>
            <a:ext cx="5120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760" b="0">
                <a:solidFill>
                  <a:srgbClr val="2F5E8C"/>
                </a:solidFill>
              </a:rPr>
              <a:t>update LoRA only  —  AdamW, lr 2e-05, 500 steps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3538727"/>
            <a:ext cx="5120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760" b="0">
                <a:solidFill>
                  <a:srgbClr val="8C5320"/>
                </a:solidFill>
              </a:rPr>
              <a:t>answer-only signal</a:t>
            </a:r>
          </a:p>
        </p:txBody>
      </p:sp>
      <p:sp>
        <p:nvSpPr>
          <p:cNvPr id="31" name="absent-bar"/>
          <p:cNvSpPr/>
          <p:nvPr/>
        </p:nvSpPr>
        <p:spPr>
          <a:xfrm>
            <a:off x="411480" y="5303520"/>
            <a:ext cx="11365992" cy="384048"/>
          </a:xfrm>
          <a:prstGeom prst="roundRect">
            <a:avLst/>
          </a:prstGeom>
          <a:solidFill>
            <a:srgbClr val="F9EBDD"/>
          </a:solidFill>
          <a:ln w="12700">
            <a:solidFill>
              <a:srgbClr val="D28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8C5320"/>
                </a:solidFill>
              </a:rPr>
              <a:t>ABSENT BY DESIGN      no InfoNCE anchor (contrastive_coef=0)      ·      no critic (vf_coef=0)      ·      no KL (kl_beta=0)      ·      no gold passage (no_force_gold)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